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</a:defRPr>
            </a:pPr>
            <a:r>
              <a:t>A Disciplined Approach to Identity</a:t>
            </a:r>
          </a:p>
          <a:p>
            <a:pPr algn="ctr">
              <a:spcBef>
                <a:spcPts val="2000"/>
              </a:spcBef>
              <a:defRPr sz="2400">
                <a:solidFill>
                  <a:srgbClr val="2FA4FF"/>
                </a:solidFill>
              </a:defRPr>
            </a:pPr>
            <a:r>
              <a:t>Product &amp; Technology Alignment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2A66"/>
                </a:solidFill>
              </a:defRPr>
            </a:pPr>
            <a:r>
              <a:t>Section 1: The Request from Product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Product Is Asking For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From the Identity Resolution &amp; Enrichment Technical Specification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A deterministic, auditable identity system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Centralized resolution in the warehouse — not in tags or vendors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Historical identity that never changes retroactively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All resolution decisions must be explainable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A single system of record for reporting, analytics, and client trust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This Is Non-Negotiable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Official metrics must be reproducible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Clients and partners depend on stable identity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Compliance and audits require explainability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Logic changes apply forward only — no rewrites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Conflicts must be recorded, not hidden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Identity Hierarchy (Product Spec)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28016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i="1">
                <a:solidFill>
                  <a:srgbClr val="333333"/>
                </a:solidFill>
              </a:defRPr>
            </a:pPr>
            <a:r>
              <a:t>Higher-confidence signals override, but never destroy, lower-confidence signals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8288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1. Authenticated User (WordPress SSO, verified email, user-provided NPI)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2. Deterministic URL Identifiers (mc_euid, bntid, HCP parameters)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3. Inferred / Third-Party (AIM NPI, BN Acceptor matches)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When conflicts occur, the highest layer wins for resolved identity.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Lower-priority identities are retained as observed — never deleted.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2A66"/>
                </a:solidFill>
              </a:defRPr>
            </a:pPr>
            <a:r>
              <a:t>Section 2: Why Marketing Enters the Picture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Two Sets of Requirements — One Dataset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274320" y="1371600"/>
            <a:ext cx="4114800" cy="4572000"/>
          </a:xfrm>
          <a:prstGeom prst="roundRect">
            <a:avLst/>
          </a:prstGeom>
          <a:solidFill>
            <a:srgbClr val="E6F0FF"/>
          </a:solidFill>
          <a:ln>
            <a:solidFill>
              <a:srgbClr val="2F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55448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A2A66"/>
                </a:solidFill>
              </a:defRPr>
            </a:pPr>
            <a:r>
              <a:t>Product Needs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103120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Deterministic resolution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Immutable history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One official identity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Full auditability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Conservative merging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1371600"/>
            <a:ext cx="4114800" cy="4572000"/>
          </a:xfrm>
          <a:prstGeom prst="roundRect">
            <a:avLst/>
          </a:prstGeom>
          <a:solidFill>
            <a:srgbClr val="E6F5F3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37760" y="1554480"/>
            <a:ext cx="374903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200" b="1">
                <a:solidFill>
                  <a:srgbClr val="009688"/>
                </a:solidFill>
              </a:defRPr>
            </a:pPr>
            <a:r>
              <a:t>Marketing Needs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2103120"/>
            <a:ext cx="3749039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Cross-device reach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Audience expansion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Frequency control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Better attribution</a:t>
            </a:r>
          </a:p>
          <a:p>
            <a:pPr>
              <a:spcBef>
                <a:spcPts val="800"/>
              </a:spcBef>
              <a:defRPr sz="1600">
                <a:solidFill>
                  <a:srgbClr val="333333"/>
                </a:solidFill>
              </a:defRPr>
            </a:pPr>
            <a:r>
              <a:t>• Revenue optimization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Core Tension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The identity system Product needs cannot meet marketing's needs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The identity system marketing wants would break Product's guarantees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This is not a preference issue — it's a requirements conflict.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A single identity approach cannot safely serve both.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That's why multiple identity solutions must exist.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2A66"/>
                </a:solidFill>
              </a:defRPr>
            </a:pPr>
            <a:r>
              <a:t>Section 3: Identity Graph Approaches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Approach 1: Deterministic Identity Only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What it solves: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Stable, repeatable, auditable results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Easy to explain and defend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Low compliance and governance risk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Where it breaks: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Limited cross-device reach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Higher duplication in marketing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Weaker frequency control and attribution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Constrains revenue and growth potential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Approach 2: Probabilistic Identity Everywhere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What it unlocks: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Maximum audience reach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Strong marketing performance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Simplified activation workflows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Why it's unsafe for BioNews: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Identity can change retroactively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Historical reports may shift over time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Limited explainability and auditability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Elevated compliance and trust risk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Why Neither Approach Works Alone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Deterministic-only: Safe but limits growth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Probabilistic-everywhere: Powerful but unsafe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The mistake most companies make: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Forcing one identity model to do both jobs.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Result: Either breaks trust or limits performance.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The answer: Separate identity by intent.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2A66"/>
                </a:solidFill>
              </a:defRPr>
            </a:pPr>
            <a:r>
              <a:t>Section 4: The Recommended Solution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The Key Insight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Identity must be handled differently depending on intent.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• Reporting needs stability and defensibility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• Analytics needs flexibility to explore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• Marketing needs reach and performance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One foundation. Multiple views. Clear boundaries.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Identity by Intended Use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371600" y="1280160"/>
            <a:ext cx="2377440" cy="731520"/>
          </a:xfrm>
          <a:prstGeom prst="roundRect">
            <a:avLst/>
          </a:prstGeom>
          <a:solidFill>
            <a:srgbClr val="2F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137160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Reporting &amp; BI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Accuracy first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931920" y="1280160"/>
            <a:ext cx="2377440" cy="731520"/>
          </a:xfrm>
          <a:prstGeom prst="roundRect">
            <a:avLst/>
          </a:prstGeom>
          <a:solidFill>
            <a:srgbClr val="2F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931920" y="137160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Analytics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Exploration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1280160"/>
            <a:ext cx="2377440" cy="73152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92240" y="1371600"/>
            <a:ext cx="23774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Marketing</a:t>
            </a:r>
          </a:p>
          <a:p>
            <a:pPr algn="ctr">
              <a:defRPr sz="1200">
                <a:solidFill>
                  <a:srgbClr val="FFFFFF"/>
                </a:solidFill>
              </a:defRPr>
            </a:pPr>
            <a:r>
              <a:t>Revenue &amp; growth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82880" y="246888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A66"/>
                </a:solidFill>
              </a:defRPr>
            </a:pPr>
            <a:r>
              <a:t>Identity Resolution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371600" y="2194560"/>
            <a:ext cx="2377440" cy="914400"/>
          </a:xfrm>
          <a:prstGeom prst="roundRect">
            <a:avLst/>
          </a:prstGeom>
          <a:solidFill>
            <a:srgbClr val="F0F8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463040" y="2377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Deterministic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931920" y="2194560"/>
            <a:ext cx="2377440" cy="914400"/>
          </a:xfrm>
          <a:prstGeom prst="roundRect">
            <a:avLst/>
          </a:prstGeom>
          <a:solidFill>
            <a:srgbClr val="F0F8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023360" y="2377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Deterministic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492240" y="2194560"/>
            <a:ext cx="2377440" cy="914400"/>
          </a:xfrm>
          <a:prstGeom prst="roundRect">
            <a:avLst/>
          </a:prstGeom>
          <a:solidFill>
            <a:srgbClr val="E8F5F3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83680" y="237744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Probabilistic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" y="356616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A66"/>
                </a:solidFill>
              </a:defRPr>
            </a:pPr>
            <a:r>
              <a:t>How Data Evolves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1371600" y="3291840"/>
            <a:ext cx="2377440" cy="914400"/>
          </a:xfrm>
          <a:prstGeom prst="roundRect">
            <a:avLst/>
          </a:prstGeom>
          <a:solidFill>
            <a:srgbClr val="F0F8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1463040" y="3474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Immutable history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931920" y="3291840"/>
            <a:ext cx="2377440" cy="914400"/>
          </a:xfrm>
          <a:prstGeom prst="roundRect">
            <a:avLst/>
          </a:prstGeom>
          <a:solidFill>
            <a:srgbClr val="F0F8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023360" y="3474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Immutable + flexible views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492240" y="3291840"/>
            <a:ext cx="2377440" cy="914400"/>
          </a:xfrm>
          <a:prstGeom prst="roundRect">
            <a:avLst/>
          </a:prstGeom>
          <a:solidFill>
            <a:srgbClr val="E8F5F3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583680" y="347472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Immutable evidence + flexible influence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82880" y="4663440"/>
            <a:ext cx="11887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0A2A66"/>
                </a:solidFill>
              </a:defRPr>
            </a:pPr>
            <a:r>
              <a:t>Why This Works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1371600" y="4389120"/>
            <a:ext cx="2377440" cy="914400"/>
          </a:xfrm>
          <a:prstGeom prst="roundRect">
            <a:avLst/>
          </a:prstGeom>
          <a:solidFill>
            <a:srgbClr val="F0F8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463040" y="4572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Trust &amp; audit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3931920" y="4389120"/>
            <a:ext cx="2377440" cy="914400"/>
          </a:xfrm>
          <a:prstGeom prst="roundRect">
            <a:avLst/>
          </a:prstGeom>
          <a:solidFill>
            <a:srgbClr val="F0F8FF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4023360" y="4572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Insight &amp; QA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92240" y="4389120"/>
            <a:ext cx="2377440" cy="914400"/>
          </a:xfrm>
          <a:prstGeom prst="roundRect">
            <a:avLst/>
          </a:prstGeom>
          <a:solidFill>
            <a:srgbClr val="E8F5F3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583680" y="4572000"/>
            <a:ext cx="21945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>
                <a:solidFill>
                  <a:srgbClr val="333333"/>
                </a:solidFill>
              </a:defRPr>
            </a:pPr>
            <a:r>
              <a:t>Performance &amp; growth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74320" y="56692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333333"/>
                </a:solidFill>
              </a:defRPr>
            </a:pPr>
            <a:r>
              <a:t>Same foundation. Different rules by intent. No compromises.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Identity Architecture: Three Layers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8229600" cy="13716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63040"/>
            <a:ext cx="78638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Layer 3: Probabilistic Identity (Marketing)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Cross-device reach • Frequency control • Revenue optimization • Activation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57200" y="2926080"/>
            <a:ext cx="8229600" cy="1371600"/>
          </a:xfrm>
          <a:prstGeom prst="roundRect">
            <a:avLst/>
          </a:prstGeom>
          <a:solidFill>
            <a:srgbClr val="2F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3017520"/>
            <a:ext cx="78638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Layer 2: Deterministic Identity (System of Record)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One official identity • Stable &amp; auditable • Reporting &amp; analytics • Client trust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4480560"/>
            <a:ext cx="8229600" cy="1371600"/>
          </a:xfrm>
          <a:prstGeom prst="round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4572000"/>
            <a:ext cx="78638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Layer 1: Identity Evidence Ledger (Immutable Foundation)</a:t>
            </a:r>
          </a:p>
          <a:p>
            <a:pPr>
              <a:defRPr sz="1400">
                <a:solidFill>
                  <a:srgbClr val="FFFFFF"/>
                </a:solidFill>
              </a:defRPr>
            </a:pPr>
            <a:r>
              <a:t>All signals preserved • Conflicts recorded • History never rewritten • 18+ months retention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603504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333333"/>
                </a:solidFill>
              </a:defRPr>
            </a:pPr>
            <a:r>
              <a:t>Each layer builds on the one below — none overwrite the one below.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FFFFF"/>
                </a:solidFill>
              </a:defRPr>
            </a:pPr>
            <a:r>
              <a:t>How Data Transforms: Same Person, Three Views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2743200" cy="4114800"/>
          </a:xfrm>
          <a:prstGeom prst="roundRect">
            <a:avLst/>
          </a:prstGeom>
          <a:solidFill>
            <a:srgbClr val="F0F5FF"/>
          </a:solidFill>
          <a:ln>
            <a:solidFill>
              <a:srgbClr val="0A2A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A2A66"/>
                </a:solidFill>
              </a:defRPr>
            </a:pPr>
            <a:r>
              <a:t>Evidence Ledger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cookie_id: c_123</a:t>
            </a:r>
          </a:p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mc_euid: mce_789</a:t>
            </a:r>
          </a:p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cookie_id: c_456</a:t>
            </a:r>
          </a:p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aim_npi: 1234567890</a:t>
            </a:r>
          </a:p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user_id: u_42</a:t>
            </a:r>
          </a:p>
          <a:p>
            <a:pPr>
              <a:defRPr sz="1100">
                <a:solidFill>
                  <a:srgbClr val="333333"/>
                </a:solidFill>
                <a:latin typeface="Consolas"/>
              </a:defRPr>
            </a:pPr>
            <a:r>
              <a:t>email: dr.smith@...</a:t>
            </a:r>
          </a:p>
        </p:txBody>
      </p:sp>
      <p:sp>
        <p:nvSpPr>
          <p:cNvPr id="7" name="Right Arrow 6"/>
          <p:cNvSpPr/>
          <p:nvPr/>
        </p:nvSpPr>
        <p:spPr>
          <a:xfrm>
            <a:off x="3200400" y="3200400"/>
            <a:ext cx="365760" cy="274320"/>
          </a:xfrm>
          <a:prstGeom prst="rightArrow">
            <a:avLst/>
          </a:prstGeom>
          <a:solidFill>
            <a:srgbClr val="2F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383280" y="1371600"/>
            <a:ext cx="2743200" cy="4114800"/>
          </a:xfrm>
          <a:prstGeom prst="roundRect">
            <a:avLst/>
          </a:prstGeom>
          <a:solidFill>
            <a:srgbClr val="E6F0FF"/>
          </a:solidFill>
          <a:ln>
            <a:solidFill>
              <a:srgbClr val="2FA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474720" y="1463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2FA4FF"/>
                </a:solidFill>
              </a:defRPr>
            </a:pPr>
            <a:r>
              <a:t>Deterministic Identity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20440" y="192024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1">
                <a:solidFill>
                  <a:srgbClr val="0A2A66"/>
                </a:solidFill>
              </a:defRPr>
            </a:pPr>
            <a:r>
              <a:t>person_001</a:t>
            </a:r>
          </a:p>
          <a:p>
            <a:pPr>
              <a:defRPr sz="1100">
                <a:solidFill>
                  <a:srgbClr val="333333"/>
                </a:solidFill>
              </a:defRPr>
            </a:pP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Identity type: authenticated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user_id: u_42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email: verified</a:t>
            </a:r>
          </a:p>
          <a:p>
            <a:pPr>
              <a:defRPr sz="1100">
                <a:solidFill>
                  <a:srgbClr val="333333"/>
                </a:solidFill>
              </a:defRPr>
            </a:pP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One official answer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6217920" y="3200400"/>
            <a:ext cx="365760" cy="274320"/>
          </a:xfrm>
          <a:prstGeom prst="rightArrow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400800" y="1371600"/>
            <a:ext cx="2743200" cy="4114800"/>
          </a:xfrm>
          <a:prstGeom prst="roundRect">
            <a:avLst/>
          </a:prstGeom>
          <a:solidFill>
            <a:srgbClr val="E8F5F3"/>
          </a:solidFill>
          <a:ln>
            <a:solidFill>
              <a:srgbClr val="0096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92240" y="1463040"/>
            <a:ext cx="2560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009688"/>
                </a:solidFill>
              </a:defRPr>
            </a:pPr>
            <a:r>
              <a:t>Marketing Identity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37960" y="1920240"/>
            <a:ext cx="2468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09688"/>
                </a:solidFill>
              </a:defRPr>
            </a:pPr>
            <a:r>
              <a:t>person_001 + linked</a:t>
            </a:r>
          </a:p>
          <a:p>
            <a:pPr>
              <a:defRPr sz="1100">
                <a:solidFill>
                  <a:srgbClr val="333333"/>
                </a:solidFill>
              </a:defRPr>
            </a:pP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Devices: c_123, c_456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Email ID: mce_789</a:t>
            </a: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NPI: 1234567890</a:t>
            </a:r>
          </a:p>
          <a:p>
            <a:pPr>
              <a:defRPr sz="1100">
                <a:solidFill>
                  <a:srgbClr val="333333"/>
                </a:solidFill>
              </a:defRPr>
            </a:pPr>
          </a:p>
          <a:p>
            <a:pPr>
              <a:defRPr sz="1100">
                <a:solidFill>
                  <a:srgbClr val="333333"/>
                </a:solidFill>
              </a:defRPr>
            </a:pPr>
            <a:r>
              <a:t>Expanded reach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4320" y="5669280"/>
            <a:ext cx="859536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 i="1">
                <a:solidFill>
                  <a:srgbClr val="333333"/>
                </a:solidFill>
              </a:defRPr>
            </a:pPr>
            <a:r>
              <a:t>Same person. Same data. Different purpose. Different answer.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Layer 1: Identity Evidence Ledger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What it brings: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Complete visibility into all identity signals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Long-term history (18+ months)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Full explainability for downstream decisions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What it looks like: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Append-only events and signals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Conflicts preserved, not resolved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No enrichment or merging at this stage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Key principle: This layer records reality — not decisions.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Layer 2: Deterministic Identity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What it brings: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One official identity per person (per view)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Stable, repeatable results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Trust in metrics and reporting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What it looks like: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Rule-based resolution (hierarchy from spec)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Deterministic identifiers only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Versioned, auditable logic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Key principle: If we publish it, it comes from here.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Layer 3: Probabilistic Identity (Marketing)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What it brings: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Better reach and frequency control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Improved attribution across devices/channels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Reduced duplication in activation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What it looks like: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Built on deterministic identity (anchored)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Multiple signals combined with confidence thresholds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Decay over time for weak signals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Key principle: Optimizes revenue without changing truth.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828800"/>
          </a:xfrm>
          <a:prstGeom prst="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0A2A66"/>
                </a:solidFill>
              </a:defRPr>
            </a:pPr>
            <a:r>
              <a:t>Section 5: The Payoff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What This Enables Now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371600"/>
            <a:ext cx="8229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For Reporting &amp; BI: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Stable, auditable metrics that don't drift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For Analytics: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Freedom to explore with flexible views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For Marketing: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Better reach and performance without compliance risk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For the Platform:</a:t>
            </a:r>
          </a:p>
          <a:p>
            <a:pPr>
              <a:spcBef>
                <a:spcPts val="1200"/>
              </a:spcBef>
              <a:spcAft>
                <a:spcPts val="600"/>
              </a:spcAft>
              <a:defRPr sz="2000">
                <a:solidFill>
                  <a:srgbClr val="333333"/>
                </a:solidFill>
              </a:defRPr>
            </a:pPr>
            <a:r>
              <a:t>•   • A foundation that scales and evolves safely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Identity as the Spine of a Future CDP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" y="1371600"/>
            <a:ext cx="2011680" cy="640080"/>
          </a:xfrm>
          <a:prstGeom prst="round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Profiles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468880" y="1371600"/>
            <a:ext cx="2011680" cy="640080"/>
          </a:xfrm>
          <a:prstGeom prst="round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468880" y="15087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Audiences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0" y="1371600"/>
            <a:ext cx="2011680" cy="640080"/>
          </a:xfrm>
          <a:prstGeom prst="round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0" y="15087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Journeys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675120" y="1371600"/>
            <a:ext cx="2011680" cy="640080"/>
          </a:xfrm>
          <a:prstGeom prst="roundRect">
            <a:avLst/>
          </a:prstGeom>
          <a:solidFill>
            <a:srgbClr val="64646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675120" y="1508760"/>
            <a:ext cx="20116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Activation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" y="1508760"/>
            <a:ext cx="2743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33333"/>
                </a:solidFill>
              </a:defRPr>
            </a:pPr>
            <a:r>
              <a:t>CDP</a:t>
            </a:r>
          </a:p>
        </p:txBody>
      </p:sp>
      <p:sp>
        <p:nvSpPr>
          <p:cNvPr id="13" name="Down Arrow 12"/>
          <p:cNvSpPr/>
          <p:nvPr/>
        </p:nvSpPr>
        <p:spPr>
          <a:xfrm>
            <a:off x="4297680" y="2103120"/>
            <a:ext cx="548640" cy="365760"/>
          </a:xfrm>
          <a:prstGeom prst="downArrow">
            <a:avLst/>
          </a:prstGeom>
          <a:solidFill>
            <a:srgbClr val="3333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57200" y="2651760"/>
            <a:ext cx="8229600" cy="914400"/>
          </a:xfrm>
          <a:prstGeom prst="roundRect">
            <a:avLst/>
          </a:prstGeom>
          <a:solidFill>
            <a:srgbClr val="009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278892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Marketing Identity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Audience expansion, activation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" y="3703320"/>
            <a:ext cx="8229600" cy="914400"/>
          </a:xfrm>
          <a:prstGeom prst="roundRect">
            <a:avLst/>
          </a:prstGeom>
          <a:solidFill>
            <a:srgbClr val="2FA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84048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Deterministic Identity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Stable profiles, system of record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57200" y="4754880"/>
            <a:ext cx="8229600" cy="914400"/>
          </a:xfrm>
          <a:prstGeom prst="round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40080" y="4892040"/>
            <a:ext cx="786384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FFFFFF"/>
                </a:solidFill>
              </a:defRPr>
            </a:pPr>
            <a:r>
              <a:t>Evidence Ledger</a:t>
            </a:r>
          </a:p>
          <a:p>
            <a:pPr>
              <a:defRPr sz="1200">
                <a:solidFill>
                  <a:srgbClr val="FFFFFF"/>
                </a:solidFill>
              </a:defRPr>
            </a:pPr>
            <a:r>
              <a:t>All signals, full history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74320" y="5669280"/>
            <a:ext cx="85953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i="1">
                <a:solidFill>
                  <a:srgbClr val="0A2A66"/>
                </a:solidFill>
              </a:defRPr>
            </a:pPr>
            <a:r>
              <a:t>"This identity architecture becomes the spine of a CDP —</a:t>
            </a:r>
          </a:p>
          <a:p>
            <a:pPr algn="ctr">
              <a:defRPr sz="1400" i="1">
                <a:solidFill>
                  <a:srgbClr val="0A2A66"/>
                </a:solidFill>
              </a:defRPr>
            </a:pPr>
            <a:r>
              <a:t>separating truth, learning, and activation so each can evolve safely."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0A2A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4572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What We're Building — And Why It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1463040"/>
            <a:ext cx="82296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600"/>
              </a:spcBef>
              <a:defRPr sz="1800" b="1">
                <a:solidFill>
                  <a:srgbClr val="2FA4FF"/>
                </a:solidFill>
              </a:defRPr>
            </a:pPr>
            <a:r>
              <a:t>What this gives us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  • One shared identity foundation — no duplication, no silos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  • Deterministic truth where accuracy matters most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  • Probabilistic power where revenue and growth matter most</a:t>
            </a:r>
          </a:p>
          <a:p>
            <a:pPr>
              <a:spcBef>
                <a:spcPts val="1600"/>
              </a:spcBef>
              <a:defRPr sz="1800" b="1">
                <a:solidFill>
                  <a:srgbClr val="2FA4FF"/>
                </a:solidFill>
              </a:defRPr>
            </a:pPr>
            <a:r>
              <a:t>What this avoids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  • Silent identity drift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  • History rewrites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  • "One-size-fits-all" compromises</a:t>
            </a:r>
          </a:p>
          <a:p>
            <a:pPr>
              <a:spcBef>
                <a:spcPts val="1600"/>
              </a:spcBef>
              <a:defRPr sz="1800" b="1">
                <a:solidFill>
                  <a:srgbClr val="2FA4FF"/>
                </a:solidFill>
              </a:defRPr>
            </a:pPr>
            <a:r>
              <a:t>What this enables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  • Better marketing performance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  • Trustworthy reporting and analytics</a:t>
            </a:r>
          </a:p>
          <a:p>
            <a:pPr>
              <a:spcBef>
                <a:spcPts val="400"/>
              </a:spcBef>
              <a:defRPr sz="1400">
                <a:solidFill>
                  <a:srgbClr val="FFFFFF"/>
                </a:solidFill>
              </a:defRPr>
            </a:pPr>
            <a:r>
              <a:t>  • A clear, scalable path to a future CDP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5486400"/>
            <a:ext cx="82296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</a:defRPr>
            </a:pPr>
            <a:r>
              <a:t>We don't choose between accuracy and reach.</a:t>
            </a:r>
          </a:p>
          <a:p>
            <a:pPr algn="ctr">
              <a:defRPr sz="2000" b="1">
                <a:solidFill>
                  <a:srgbClr val="2FA4FF"/>
                </a:solidFill>
              </a:defRPr>
            </a:pPr>
            <a:r>
              <a:t>We choose where each one belongs.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